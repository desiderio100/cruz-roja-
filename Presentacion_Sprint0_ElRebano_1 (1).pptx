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gjRLsm1qG1fjgZHo6iYGRFTzCb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BLOQUE 1 · Problemática (1:30 en total, diapositivas 1 a 3)</a:t>
            </a:r>
            <a:br>
              <a:rPr lang="en-US"/>
            </a:br>
            <a:br>
              <a:rPr lang="en-US"/>
            </a:br>
            <a:r>
              <a:rPr lang="en-US"/>
              <a:t>Buenos días. Somos el equipo El Rebaño y trabajamos con Cruz Roja Mexicana. Les vamos a presentar una app para iPhone que convierte una llamada de emergencia en una llamada con datos.</a:t>
            </a:r>
            <a:endParaRPr/>
          </a:p>
        </p:txBody>
      </p:sp>
      <p:sp>
        <p:nvSpPr>
          <p:cNvPr id="26" name="Google Shape;2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BLOQUE 1 · Problemática</a:t>
            </a:r>
            <a:br>
              <a:rPr lang="en-US"/>
            </a:br>
            <a:br>
              <a:rPr lang="en-US"/>
            </a:br>
            <a:r>
              <a:rPr lang="en-US"/>
              <a:t>Cuando alguien llama a Cruz Roja, el operador necesita estos 8 datos para despachar una unidad. Hoy los obtiene todos por voz y los escribe a mano, mientras atiende a una persona que está en pánico. Los marcados en rosa son los que nuestra app manda sola desde el primer segundo.</a:t>
            </a:r>
            <a:endParaRPr/>
          </a:p>
        </p:txBody>
      </p:sp>
      <p:sp>
        <p:nvSpPr>
          <p:cNvPr id="37" name="Google Shape;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BLOQUE 1 · Problemática</a:t>
            </a:r>
            <a:br>
              <a:rPr lang="en-US"/>
            </a:br>
            <a:br>
              <a:rPr lang="en-US"/>
            </a:br>
            <a:r>
              <a:rPr lang="en-US"/>
              <a:t>Esta forma de trabajar tiene cinco puntos débiles. La ubicación es imprecisa, sobre todo en carreteras o zonas que la persona no conoce. El operador no ve la escena. Captura todo a mano. La gente no siempre sabe a qué número llamar. Y si la llamada se corta sin un número confirmado, no hay forma rápida de recuperarla. Cada minuto que se va en esto es un minuto que la ambulancia no avanza.</a:t>
            </a:r>
            <a:endParaRPr/>
          </a:p>
        </p:txBody>
      </p:sp>
      <p:sp>
        <p:nvSpPr>
          <p:cNvPr id="79" name="Google Shape;7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BLOQUE 2 · Solución (1:30 en total, diapositivas 4 a 6)</a:t>
            </a:r>
            <a:br>
              <a:rPr lang="en-US"/>
            </a:br>
            <a:br>
              <a:rPr lang="en-US"/>
            </a:br>
            <a:r>
              <a:rPr lang="en-US"/>
              <a:t>Nuestra propuesta es una app para iPhone que convierte la llamada de emergencia en una llamada con datos. Con un solo toque se hace una llamada por internet a la delegación que corresponde. La ubicación, el nombre y el número llegan antes de que conecte el audio. El operador puede pedir video, pero solo él ve la cámara del usuario. Y una IA llena la ficha mientras la persona habla. Si no hay internet, la app marca por línea telefónica. Además, la app junta los servicios de Cruz Roja: citas, donativos, productos con causa y tutoriales.</a:t>
            </a:r>
            <a:endParaRPr/>
          </a:p>
        </p:txBody>
      </p:sp>
      <p:sp>
        <p:nvSpPr>
          <p:cNvPr id="104" name="Google Shape;10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BLOQUE 2 · Solución</a:t>
            </a:r>
            <a:br>
              <a:rPr lang="en-US"/>
            </a:br>
            <a:br>
              <a:rPr lang="en-US"/>
            </a:br>
            <a:r>
              <a:rPr lang="en-US"/>
              <a:t>Así funciona una llamada. La persona presiona el botón. Si la llamada por internet conecta, el operador recibe la ubicación, el nombre y el número, la IA llena la ficha y puede pedir video. Si no hay internet, la app marca por línea telefónica a la delegación más cercana y muestra las coordenadas en pantalla para dictarlas. En los dos casos la llamada entra y se despacha la unidad.</a:t>
            </a:r>
            <a:endParaRPr/>
          </a:p>
        </p:txBody>
      </p:sp>
      <p:sp>
        <p:nvSpPr>
          <p:cNvPr id="150" name="Google Shape;15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BLOQUE 2 · </a:t>
            </a:r>
            <a:r>
              <a:rPr lang="en-US" dirty="0" err="1"/>
              <a:t>Solución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Como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materia</a:t>
            </a:r>
            <a:r>
              <a:rPr lang="en-US" dirty="0"/>
              <a:t> de </a:t>
            </a:r>
            <a:r>
              <a:rPr lang="en-US" dirty="0" err="1"/>
              <a:t>seguridad</a:t>
            </a:r>
            <a:r>
              <a:rPr lang="en-US" dirty="0"/>
              <a:t>, </a:t>
            </a:r>
            <a:r>
              <a:rPr lang="en-US" dirty="0" err="1"/>
              <a:t>diseñamos</a:t>
            </a:r>
            <a:r>
              <a:rPr lang="en-US" dirty="0"/>
              <a:t> la app para </a:t>
            </a:r>
            <a:r>
              <a:rPr lang="en-US" dirty="0" err="1"/>
              <a:t>cuidar</a:t>
            </a:r>
            <a:r>
              <a:rPr lang="en-US" dirty="0"/>
              <a:t> la </a:t>
            </a:r>
            <a:r>
              <a:rPr lang="en-US" dirty="0" err="1"/>
              <a:t>llamada</a:t>
            </a:r>
            <a:r>
              <a:rPr lang="en-US" dirty="0"/>
              <a:t> y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el </a:t>
            </a:r>
            <a:r>
              <a:rPr lang="en-US" dirty="0" err="1"/>
              <a:t>inicio</a:t>
            </a:r>
            <a:r>
              <a:rPr lang="en-US" dirty="0"/>
              <a:t>. La </a:t>
            </a:r>
            <a:r>
              <a:rPr lang="en-US" dirty="0" err="1"/>
              <a:t>transcripción</a:t>
            </a:r>
            <a:r>
              <a:rPr lang="en-US" dirty="0"/>
              <a:t> y la </a:t>
            </a:r>
            <a:r>
              <a:rPr lang="en-US" dirty="0" err="1"/>
              <a:t>ficha</a:t>
            </a:r>
            <a:r>
              <a:rPr lang="en-US" dirty="0"/>
              <a:t> se </a:t>
            </a:r>
            <a:r>
              <a:rPr lang="en-US" dirty="0" err="1"/>
              <a:t>hacen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dispositivo</a:t>
            </a:r>
            <a:r>
              <a:rPr lang="en-US" dirty="0"/>
              <a:t>, </a:t>
            </a:r>
            <a:r>
              <a:rPr lang="en-US" dirty="0" err="1"/>
              <a:t>así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el audio no se </a:t>
            </a:r>
            <a:r>
              <a:rPr lang="en-US" dirty="0" err="1"/>
              <a:t>manda</a:t>
            </a:r>
            <a:r>
              <a:rPr lang="en-US" dirty="0"/>
              <a:t> a </a:t>
            </a:r>
            <a:r>
              <a:rPr lang="en-US" dirty="0" err="1"/>
              <a:t>servicios</a:t>
            </a:r>
            <a:r>
              <a:rPr lang="en-US" dirty="0"/>
              <a:t> de IA </a:t>
            </a:r>
            <a:r>
              <a:rPr lang="en-US" dirty="0" err="1"/>
              <a:t>externos</a:t>
            </a:r>
            <a:r>
              <a:rPr lang="en-US" dirty="0"/>
              <a:t>. El video es de un solo </a:t>
            </a:r>
            <a:r>
              <a:rPr lang="en-US" dirty="0" err="1"/>
              <a:t>sentido</a:t>
            </a:r>
            <a:r>
              <a:rPr lang="en-US" dirty="0"/>
              <a:t> y con </a:t>
            </a:r>
            <a:r>
              <a:rPr lang="en-US" dirty="0" err="1"/>
              <a:t>permiso</a:t>
            </a:r>
            <a:r>
              <a:rPr lang="en-US" dirty="0"/>
              <a:t>. Todo </a:t>
            </a:r>
            <a:r>
              <a:rPr lang="en-US" dirty="0" err="1"/>
              <a:t>viaja</a:t>
            </a:r>
            <a:r>
              <a:rPr lang="en-US" dirty="0"/>
              <a:t> </a:t>
            </a:r>
            <a:r>
              <a:rPr lang="en-US" dirty="0" err="1"/>
              <a:t>cifrado</a:t>
            </a:r>
            <a:r>
              <a:rPr lang="en-US" dirty="0"/>
              <a:t>. Solo el personal </a:t>
            </a:r>
            <a:r>
              <a:rPr lang="en-US" dirty="0" err="1"/>
              <a:t>autorizado</a:t>
            </a:r>
            <a:r>
              <a:rPr lang="en-US" dirty="0"/>
              <a:t> </a:t>
            </a:r>
            <a:r>
              <a:rPr lang="en-US" dirty="0" err="1"/>
              <a:t>entra</a:t>
            </a:r>
            <a:r>
              <a:rPr lang="en-US" dirty="0"/>
              <a:t>, con </a:t>
            </a:r>
            <a:r>
              <a:rPr lang="en-US" dirty="0" err="1"/>
              <a:t>segundo</a:t>
            </a:r>
            <a:r>
              <a:rPr lang="en-US" dirty="0"/>
              <a:t> factor y roles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delegación</a:t>
            </a:r>
            <a:r>
              <a:rPr lang="en-US" dirty="0"/>
              <a:t>. </a:t>
            </a:r>
            <a:r>
              <a:rPr lang="en-US" dirty="0" err="1"/>
              <a:t>Ponemos</a:t>
            </a:r>
            <a:r>
              <a:rPr lang="en-US" dirty="0"/>
              <a:t> </a:t>
            </a:r>
            <a:r>
              <a:rPr lang="en-US" dirty="0" err="1"/>
              <a:t>límites</a:t>
            </a:r>
            <a:r>
              <a:rPr lang="en-US" dirty="0"/>
              <a:t> para </a:t>
            </a:r>
            <a:r>
              <a:rPr lang="en-US" dirty="0" err="1"/>
              <a:t>frenar</a:t>
            </a:r>
            <a:r>
              <a:rPr lang="en-US" dirty="0"/>
              <a:t> </a:t>
            </a:r>
            <a:r>
              <a:rPr lang="en-US" dirty="0" err="1"/>
              <a:t>llamadas</a:t>
            </a:r>
            <a:r>
              <a:rPr lang="en-US" dirty="0"/>
              <a:t> falsas. Y </a:t>
            </a:r>
            <a:r>
              <a:rPr lang="en-US" dirty="0" err="1"/>
              <a:t>mostramos</a:t>
            </a:r>
            <a:r>
              <a:rPr lang="en-US" dirty="0"/>
              <a:t> un aviso de </a:t>
            </a:r>
            <a:r>
              <a:rPr lang="en-US" dirty="0" err="1"/>
              <a:t>privacidad</a:t>
            </a:r>
            <a:r>
              <a:rPr lang="en-US" dirty="0"/>
              <a:t> </a:t>
            </a:r>
            <a:r>
              <a:rPr lang="en-US" dirty="0" err="1"/>
              <a:t>conforme</a:t>
            </a:r>
            <a:r>
              <a:rPr lang="en-US" dirty="0"/>
              <a:t> a la ley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personales</a:t>
            </a:r>
            <a:r>
              <a:rPr lang="en-US" dirty="0"/>
              <a:t> de 2025.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Ojo: </a:t>
            </a:r>
            <a:r>
              <a:rPr lang="en-US" dirty="0" err="1"/>
              <a:t>los</a:t>
            </a:r>
            <a:r>
              <a:rPr lang="en-US" dirty="0"/>
              <a:t> puntos de </a:t>
            </a:r>
            <a:r>
              <a:rPr lang="en-US" dirty="0" err="1"/>
              <a:t>segundo</a:t>
            </a:r>
            <a:r>
              <a:rPr lang="en-US" dirty="0"/>
              <a:t> factor, </a:t>
            </a:r>
            <a:r>
              <a:rPr lang="en-US" dirty="0" err="1"/>
              <a:t>llamadas</a:t>
            </a:r>
            <a:r>
              <a:rPr lang="en-US" dirty="0"/>
              <a:t> falsas y la ley de 2025 son </a:t>
            </a:r>
            <a:r>
              <a:rPr lang="en-US" dirty="0" err="1"/>
              <a:t>los</a:t>
            </a:r>
            <a:r>
              <a:rPr lang="en-US" dirty="0"/>
              <a:t> RNF </a:t>
            </a:r>
            <a:r>
              <a:rPr lang="en-US" dirty="0" err="1"/>
              <a:t>nuevos</a:t>
            </a:r>
            <a:r>
              <a:rPr lang="en-US" dirty="0"/>
              <a:t> del checklist; </a:t>
            </a:r>
            <a:r>
              <a:rPr lang="en-US" dirty="0" err="1"/>
              <a:t>agréguenlos</a:t>
            </a:r>
            <a:r>
              <a:rPr lang="en-US" dirty="0"/>
              <a:t> al </a:t>
            </a:r>
            <a:r>
              <a:rPr lang="en-US" dirty="0" err="1"/>
              <a:t>documento</a:t>
            </a:r>
            <a:r>
              <a:rPr lang="en-US" dirty="0"/>
              <a:t> de </a:t>
            </a:r>
            <a:r>
              <a:rPr lang="en-US" dirty="0" err="1"/>
              <a:t>requerimientos</a:t>
            </a:r>
            <a:r>
              <a:rPr lang="en-US" dirty="0"/>
              <a:t> para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coincida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78" name="Google Shape;17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BLOQUE 3 · Mockup del solicitante (1:30 en total, diapositivas 7 a 10)</a:t>
            </a:r>
            <a:br>
              <a:rPr lang="en-US"/>
            </a:br>
            <a:br>
              <a:rPr lang="en-US"/>
            </a:br>
            <a:r>
              <a:rPr lang="en-US"/>
              <a:t>La primera vez que se abre la app se piden nombre, número y permisos de ubicación, micrófono, cámara y notificaciones. El número se verifica una sola vez por SMS. Si la persona se salta este paso, la llamada de emergencia funciona igual.</a:t>
            </a:r>
            <a:br>
              <a:rPr lang="en-US"/>
            </a:br>
            <a:br>
              <a:rPr lang="en-US"/>
            </a:br>
            <a:r>
              <a:rPr lang="en-US"/>
              <a:t>Si preguntan por el título "Crea tu cuenta": no es una cuenta, solo son los datos para emergencias.</a:t>
            </a:r>
            <a:endParaRPr/>
          </a:p>
        </p:txBody>
      </p:sp>
      <p:sp>
        <p:nvSpPr>
          <p:cNvPr id="216" name="Google Shape;21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BLOQUE 3 · Mockup del solicitante</a:t>
            </a:r>
            <a:br>
              <a:rPr lang="en-US"/>
            </a:br>
            <a:br>
              <a:rPr lang="en-US"/>
            </a:br>
            <a:r>
              <a:rPr lang="en-US"/>
              <a:t>La pantalla principal tiene un botón grande que inicia la llamada con un toque, sin pantallas intermedias y sin iniciar sesión. Abajo están Donar y los accesos a citas, productos con causa y tutoriales.</a:t>
            </a:r>
            <a:endParaRPr/>
          </a:p>
        </p:txBody>
      </p:sp>
      <p:sp>
        <p:nvSpPr>
          <p:cNvPr id="222" name="Google Shape;22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BLOQUE 3 · Mockup del solicitante</a:t>
            </a:r>
            <a:br>
              <a:rPr lang="en-US"/>
            </a:br>
            <a:br>
              <a:rPr lang="en-US"/>
            </a:br>
            <a:r>
              <a:rPr lang="en-US"/>
              <a:t>Durante la llamada ya se mandaron el GPS, el nombre y el número. Si el operador pide ver la cámara, el usuario acepta o rechaza. El video es de un solo sentido: el usuario puede cambiar de cámara o detenerlo y la voz sigue.</a:t>
            </a:r>
            <a:endParaRPr/>
          </a:p>
        </p:txBody>
      </p:sp>
      <p:sp>
        <p:nvSpPr>
          <p:cNvPr id="228" name="Google Shape;22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BLOQUE 3 · Mockup del solicitante</a:t>
            </a:r>
            <a:br>
              <a:rPr lang="en-US"/>
            </a:br>
            <a:br>
              <a:rPr lang="en-US"/>
            </a:br>
            <a:r>
              <a:rPr lang="en-US"/>
              <a:t>Si no hay internet, la app llama por línea telefónica a la delegación más cercana, usando el directorio guardado en el teléfono, y muestra las coordenadas para dictarlas. La llamada nunca se pierde.</a:t>
            </a:r>
            <a:endParaRPr/>
          </a:p>
        </p:txBody>
      </p:sp>
      <p:sp>
        <p:nvSpPr>
          <p:cNvPr id="234" name="Google Shape;23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BLOQUE 4 · Mockup del operador y servicios (1:30 en total, diapositivas 11 a 14)</a:t>
            </a:r>
            <a:br>
              <a:rPr lang="en-US"/>
            </a:br>
            <a:br>
              <a:rPr lang="en-US"/>
            </a:br>
            <a:r>
              <a:rPr lang="en-US"/>
              <a:t>Este es el panel del operador. A la izquierda ve la ubicación en el mapa y la ficha en el orden que usa el CECOM. A la derecha, la transcripción en tiempo real. La IA llena los campos y marca como pendientes los que faltan, para que el operador sepa qué preguntar. También puede devolver la llamada al número registrado.</a:t>
            </a:r>
            <a:endParaRPr/>
          </a:p>
        </p:txBody>
      </p:sp>
      <p:sp>
        <p:nvSpPr>
          <p:cNvPr id="240" name="Google Shape;24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BLOQUE 4 · Mockup del operador y servicios</a:t>
            </a:r>
            <a:br>
              <a:rPr lang="en-US"/>
            </a:br>
            <a:br>
              <a:rPr lang="en-US"/>
            </a:br>
            <a:r>
              <a:rPr lang="en-US"/>
              <a:t>Fuera de emergencias, el usuario agenda citas de nutrición o psicología en 4 pasos o menos. Solo ve horarios con especialistas libres, ve el costo de 150 pesos y acepta que la cita puede posponerse si llega una emergencia mayor. Al final recibe un folio y un recordatorio.</a:t>
            </a:r>
            <a:endParaRPr/>
          </a:p>
        </p:txBody>
      </p:sp>
      <p:sp>
        <p:nvSpPr>
          <p:cNvPr id="246" name="Google Shape;24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BLOQUE 4 · Mockup del operador y servicios</a:t>
            </a:r>
            <a:br>
              <a:rPr lang="en-US"/>
            </a:br>
            <a:br>
              <a:rPr lang="en-US"/>
            </a:br>
            <a:r>
              <a:rPr lang="en-US"/>
              <a:t>El catálogo muestra productos con causa, con su precio y la causa que apoyan. La compra se hace en el canal oficial de Cruz Roja.</a:t>
            </a:r>
            <a:endParaRPr/>
          </a:p>
        </p:txBody>
      </p:sp>
      <p:sp>
        <p:nvSpPr>
          <p:cNvPr id="252" name="Google Shape;25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BLOQUE 4 · Mockup del operador y servicios</a:t>
            </a:r>
            <a:br>
              <a:rPr lang="en-US"/>
            </a:br>
            <a:br>
              <a:rPr lang="en-US"/>
            </a:br>
            <a:r>
              <a:rPr lang="en-US"/>
              <a:t>Y los tutoriales enseñan primeros auxilios y RCP, para saber qué hacer mientras llega la ayuda.</a:t>
            </a:r>
            <a:endParaRPr/>
          </a:p>
        </p:txBody>
      </p:sp>
      <p:sp>
        <p:nvSpPr>
          <p:cNvPr id="258" name="Google Shape;25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BLOQUE 5 · Impacto y siguiente paso (1:30 en total, diapositivas 15 a 17)</a:t>
            </a:r>
            <a:br>
              <a:rPr lang="en-US"/>
            </a:br>
            <a:br>
              <a:rPr lang="en-US"/>
            </a:br>
            <a:r>
              <a:rPr lang="en-US"/>
              <a:t>El impacto principal es reducir el tiempo entre que alguien pide ayuda y que sale la unidad. Basta un toque. La ubicación y los datos llegan en menos de 5 segundos. La IA llena los 8 campos de la ficha. Y el usuario no tiene que crear ninguna cuenta. En la emergencia esto significa menos tiempo al teléfono, un despacho más preciso, mejor valoración con video y llamadas que se pueden recuperar. Fuera de la emergencia, la gente agenda citas, dona y aprende primeros auxilios desde el mismo lugar.</a:t>
            </a:r>
            <a:endParaRPr/>
          </a:p>
        </p:txBody>
      </p:sp>
      <p:sp>
        <p:nvSpPr>
          <p:cNvPr id="264" name="Google Shape;264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BLOQUE 5 · Cierre</a:t>
            </a:r>
            <a:br>
              <a:rPr lang="en-US"/>
            </a:br>
            <a:br>
              <a:rPr lang="en-US"/>
            </a:br>
            <a:r>
              <a:rPr lang="en-US"/>
              <a:t>Gracias. Quedamos atentos a sus preguntas y retroalimentación.</a:t>
            </a:r>
            <a:br>
              <a:rPr lang="en-US"/>
            </a:br>
            <a:br>
              <a:rPr lang="en-US"/>
            </a:br>
            <a:r>
              <a:rPr lang="en-US"/>
              <a:t>Preguntas probables: ¿qué pasa con las llamadas falsas?, ¿en qué dispositivo corre la IA?, ¿por qué solo iPhone?, ¿cómo se relaciona con el 911?</a:t>
            </a:r>
            <a:endParaRPr/>
          </a:p>
        </p:txBody>
      </p:sp>
      <p:sp>
        <p:nvSpPr>
          <p:cNvPr id="308" name="Google Shape;30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">
  <p:cSld name="PORTADA">
    <p:bg>
      <p:bgPr>
        <a:solidFill>
          <a:schemeClr val="accen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>
            <a:spLocks noGrp="1"/>
          </p:cNvSpPr>
          <p:nvPr>
            <p:ph type="title"/>
          </p:nvPr>
        </p:nvSpPr>
        <p:spPr>
          <a:xfrm>
            <a:off x="548640" y="960120"/>
            <a:ext cx="502920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  <a:defRPr sz="3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body" idx="1"/>
          </p:nvPr>
        </p:nvSpPr>
        <p:spPr>
          <a:xfrm>
            <a:off x="548640" y="2834640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2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">
  <p:cSld name="CONTENIDO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0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2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Equipo El Rebaño · Cruz Roja Mexicana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0"/>
          <p:cNvSpPr txBox="1">
            <a:spLocks noGrp="1"/>
          </p:cNvSpPr>
          <p:nvPr>
            <p:ph type="sldNum" idx="12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UP">
  <p:cSld name="MOCKUP">
    <p:bg>
      <p:bgPr>
        <a:solidFill>
          <a:schemeClr val="lt2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>
  <p:cSld name="CIERRE">
    <p:bg>
      <p:bgPr>
        <a:solidFill>
          <a:schemeClr val="accen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>
            <a:spLocks noGrp="1"/>
          </p:cNvSpPr>
          <p:nvPr>
            <p:ph type="title"/>
          </p:nvPr>
        </p:nvSpPr>
        <p:spPr>
          <a:xfrm>
            <a:off x="548640" y="146304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body" idx="1"/>
          </p:nvPr>
        </p:nvSpPr>
        <p:spPr>
          <a:xfrm>
            <a:off x="548640" y="260604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sldNum" idx="12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"/>
          <p:cNvSpPr txBox="1"/>
          <p:nvPr/>
        </p:nvSpPr>
        <p:spPr>
          <a:xfrm>
            <a:off x="548650" y="68337"/>
            <a:ext cx="50292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None/>
            </a:pPr>
            <a:r>
              <a:rPr lang="en-US" sz="1200" b="1" spc="200">
                <a:solidFill>
                  <a:schemeClr val="accent3"/>
                </a:solidFill>
              </a:rPr>
              <a:t>Cruz    Roja   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 txBox="1">
            <a:spLocks noGrp="1"/>
          </p:cNvSpPr>
          <p:nvPr>
            <p:ph type="title"/>
          </p:nvPr>
        </p:nvSpPr>
        <p:spPr>
          <a:xfrm>
            <a:off x="548640" y="960120"/>
            <a:ext cx="502920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</a:pPr>
            <a:r>
              <a:rPr lang="en-US" sz="3800" b="1">
                <a:solidFill>
                  <a:schemeClr val="lt1"/>
                </a:solidFill>
              </a:rPr>
              <a:t>Una llamada de emergencia que llega con datos</a:t>
            </a:r>
            <a:endParaRPr sz="3800"/>
          </a:p>
        </p:txBody>
      </p:sp>
      <p:sp>
        <p:nvSpPr>
          <p:cNvPr id="30" name="Google Shape;30;p1"/>
          <p:cNvSpPr txBox="1">
            <a:spLocks noGrp="1"/>
          </p:cNvSpPr>
          <p:nvPr>
            <p:ph type="body" idx="1"/>
          </p:nvPr>
        </p:nvSpPr>
        <p:spPr>
          <a:xfrm>
            <a:off x="548640" y="2834640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</a:pPr>
            <a:r>
              <a:rPr lang="en-US" sz="1600">
                <a:solidFill>
                  <a:schemeClr val="accent3"/>
                </a:solidFill>
              </a:rPr>
              <a:t>App para iPhone: el operador del CECOM recibe ubicación, datos y una ficha llenada con IA.</a:t>
            </a:r>
            <a:endParaRPr sz="1600"/>
          </a:p>
        </p:txBody>
      </p:sp>
      <p:sp>
        <p:nvSpPr>
          <p:cNvPr id="31" name="Google Shape;31;p1"/>
          <p:cNvSpPr txBox="1"/>
          <p:nvPr/>
        </p:nvSpPr>
        <p:spPr>
          <a:xfrm>
            <a:off x="548640" y="370332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Equipo El Rebaño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Luis Omar · Ayhan · Desiderio · Luis · Sebastián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 txBox="1"/>
          <p:nvPr/>
        </p:nvSpPr>
        <p:spPr>
          <a:xfrm>
            <a:off x="548640" y="43434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Integración de seguridad informática en redes y sistemas de software (Gpo 501) · Docentes: Elvia Itzamná Rosas Herrera y Rafael Emilio Dávalos Villarreal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Google Shape;33;p1" descr="Pantalla principal de la app con el botón Emergencia, un solo toqu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95137" y="0"/>
            <a:ext cx="324886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>
                <a:solidFill>
                  <a:schemeClr val="dk1"/>
                </a:solidFill>
              </a:rPr>
              <a:t>8 datos, todos por voz</a:t>
            </a:r>
            <a:endParaRPr sz="3600"/>
          </a:p>
        </p:txBody>
      </p:sp>
      <p:sp>
        <p:nvSpPr>
          <p:cNvPr id="40" name="Google Shape;40;p2"/>
          <p:cNvSpPr txBox="1"/>
          <p:nvPr/>
        </p:nvSpPr>
        <p:spPr>
          <a:xfrm>
            <a:off x="457200" y="102412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operador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del CECOM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los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pregunta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orden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los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captura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 mano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mientras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atiende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alguien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alterado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" y="1737360"/>
            <a:ext cx="1965960" cy="841248"/>
          </a:xfrm>
          <a:prstGeom prst="roundRect">
            <a:avLst>
              <a:gd name="adj" fmla="val 10870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594360" y="1956816"/>
            <a:ext cx="402336" cy="402336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 txBox="1"/>
          <p:nvPr/>
        </p:nvSpPr>
        <p:spPr>
          <a:xfrm>
            <a:off x="594360" y="195681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1097280" y="1810512"/>
            <a:ext cx="126187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Nombre del solicitante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2606040" y="1737360"/>
            <a:ext cx="1965960" cy="841248"/>
          </a:xfrm>
          <a:prstGeom prst="roundRect">
            <a:avLst>
              <a:gd name="adj" fmla="val 10870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2743200" y="1956816"/>
            <a:ext cx="402336" cy="402336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 txBox="1"/>
          <p:nvPr/>
        </p:nvSpPr>
        <p:spPr>
          <a:xfrm>
            <a:off x="2743200" y="195681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3246120" y="1810512"/>
            <a:ext cx="126187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Número celular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754880" y="1737360"/>
            <a:ext cx="1965960" cy="841248"/>
          </a:xfrm>
          <a:prstGeom prst="roundRect">
            <a:avLst>
              <a:gd name="adj" fmla="val 1087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892040" y="1956816"/>
            <a:ext cx="402336" cy="402336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"/>
          <p:cNvSpPr txBox="1"/>
          <p:nvPr/>
        </p:nvSpPr>
        <p:spPr>
          <a:xfrm>
            <a:off x="4892040" y="195681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5394960" y="1810512"/>
            <a:ext cx="126187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Motivo de la emergencia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903720" y="1737360"/>
            <a:ext cx="1965960" cy="841248"/>
          </a:xfrm>
          <a:prstGeom prst="roundRect">
            <a:avLst>
              <a:gd name="adj" fmla="val 1087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7040880" y="1956816"/>
            <a:ext cx="402336" cy="402336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 txBox="1"/>
          <p:nvPr/>
        </p:nvSpPr>
        <p:spPr>
          <a:xfrm>
            <a:off x="7040880" y="195681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7543800" y="1810512"/>
            <a:ext cx="126187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Número de lesionados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57200" y="2761488"/>
            <a:ext cx="1965960" cy="841248"/>
          </a:xfrm>
          <a:prstGeom prst="roundRect">
            <a:avLst>
              <a:gd name="adj" fmla="val 1087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594360" y="2980944"/>
            <a:ext cx="402336" cy="402336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"/>
          <p:cNvSpPr txBox="1"/>
          <p:nvPr/>
        </p:nvSpPr>
        <p:spPr>
          <a:xfrm>
            <a:off x="594360" y="298094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1097280" y="2834640"/>
            <a:ext cx="126187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Lesión principal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2606040" y="2761488"/>
            <a:ext cx="1965960" cy="841248"/>
          </a:xfrm>
          <a:prstGeom prst="roundRect">
            <a:avLst>
              <a:gd name="adj" fmla="val 1087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2743200" y="2980944"/>
            <a:ext cx="402336" cy="402336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 txBox="1"/>
          <p:nvPr/>
        </p:nvSpPr>
        <p:spPr>
          <a:xfrm>
            <a:off x="2743200" y="298094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3246120" y="2834640"/>
            <a:ext cx="126187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Lugar de ocurrencia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754880" y="2761488"/>
            <a:ext cx="1965960" cy="841248"/>
          </a:xfrm>
          <a:prstGeom prst="roundRect">
            <a:avLst>
              <a:gd name="adj" fmla="val 10870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4892040" y="2980944"/>
            <a:ext cx="402336" cy="402336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"/>
          <p:cNvSpPr txBox="1"/>
          <p:nvPr/>
        </p:nvSpPr>
        <p:spPr>
          <a:xfrm>
            <a:off x="4892040" y="298094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5394960" y="2834640"/>
            <a:ext cx="126187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Ubicación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903720" y="2761488"/>
            <a:ext cx="1965960" cy="841248"/>
          </a:xfrm>
          <a:prstGeom prst="roundRect">
            <a:avLst>
              <a:gd name="adj" fmla="val 1087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7040880" y="2980944"/>
            <a:ext cx="402336" cy="402336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"/>
          <p:cNvSpPr txBox="1"/>
          <p:nvPr/>
        </p:nvSpPr>
        <p:spPr>
          <a:xfrm>
            <a:off x="7040880" y="298094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7543800" y="2834640"/>
            <a:ext cx="126187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Comentarios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57200" y="3840480"/>
            <a:ext cx="8229600" cy="658368"/>
          </a:xfrm>
          <a:prstGeom prst="roundRect">
            <a:avLst>
              <a:gd name="adj" fmla="val 13889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 txBox="1"/>
          <p:nvPr/>
        </p:nvSpPr>
        <p:spPr>
          <a:xfrm>
            <a:off x="685800" y="3840480"/>
            <a:ext cx="77724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Con la app, </a:t>
            </a:r>
            <a:r>
              <a:rPr lang="en-US" sz="1500" b="1" i="0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nombre</a:t>
            </a:r>
            <a:r>
              <a:rPr lang="en-US" sz="1500" b="1" i="0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500" b="1" i="0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número</a:t>
            </a:r>
            <a:r>
              <a:rPr lang="en-US" sz="1500" b="1" i="0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500" b="1" i="0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ubicación</a:t>
            </a:r>
            <a:r>
              <a:rPr lang="en-US" sz="1500" b="1" i="0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llegan</a:t>
            </a:r>
            <a:r>
              <a:rPr lang="en-US" sz="1500" b="1" i="0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solos y la IA </a:t>
            </a:r>
            <a:r>
              <a:rPr lang="en-US" sz="1500" b="1" i="0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llena</a:t>
            </a:r>
            <a:r>
              <a:rPr lang="en-US" sz="1500" b="1" i="0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el resto.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 txBox="1"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>
                <a:solidFill>
                  <a:schemeClr val="dk1"/>
                </a:solidFill>
              </a:rPr>
              <a:t>Cinco puntos débiles</a:t>
            </a:r>
            <a:endParaRPr sz="3600"/>
          </a:p>
        </p:txBody>
      </p:sp>
      <p:sp>
        <p:nvSpPr>
          <p:cNvPr id="82" name="Google Shape;82;p3"/>
          <p:cNvSpPr/>
          <p:nvPr/>
        </p:nvSpPr>
        <p:spPr>
          <a:xfrm>
            <a:off x="457200" y="1280160"/>
            <a:ext cx="566928" cy="566928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" name="Google Shape;83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924" y="1404884"/>
            <a:ext cx="317480" cy="31748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 txBox="1"/>
          <p:nvPr/>
        </p:nvSpPr>
        <p:spPr>
          <a:xfrm>
            <a:off x="1207008" y="1234440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Ubicación imprecisa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Muchos no saben la dirección o la dicen mal por los nervios.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57200" y="2395728"/>
            <a:ext cx="566928" cy="566928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6" name="Google Shape;86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924" y="2520452"/>
            <a:ext cx="317480" cy="31748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 txBox="1"/>
          <p:nvPr/>
        </p:nvSpPr>
        <p:spPr>
          <a:xfrm>
            <a:off x="1207008" y="2350008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operador no ve la escena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Valora lesiones y gravedad solo por lo que le describen.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57200" y="3511296"/>
            <a:ext cx="566928" cy="566928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" name="Google Shape;89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924" y="3636020"/>
            <a:ext cx="317480" cy="31748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 txBox="1"/>
          <p:nvPr/>
        </p:nvSpPr>
        <p:spPr>
          <a:xfrm>
            <a:off x="1207008" y="3465576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Captura manual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Escucha, pregunta y escribe a la vez, y puede omitir datos.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800600" y="1280160"/>
            <a:ext cx="566928" cy="566928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92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25324" y="1404884"/>
            <a:ext cx="317480" cy="31748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 txBox="1"/>
          <p:nvPr/>
        </p:nvSpPr>
        <p:spPr>
          <a:xfrm>
            <a:off x="5550408" y="1234440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¿A qué número llamo?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 siempre se sabe el número de la delegación de la zona.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800600" y="2395728"/>
            <a:ext cx="566928" cy="566928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" name="Google Shape;95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25324" y="2520452"/>
            <a:ext cx="317480" cy="31748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 txBox="1"/>
          <p:nvPr/>
        </p:nvSpPr>
        <p:spPr>
          <a:xfrm>
            <a:off x="5550408" y="2350008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Llamadas que se cortan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Sin un número confirmado no hay forma rápida de recuperarlas.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 txBox="1"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>
                <a:solidFill>
                  <a:schemeClr val="dk1"/>
                </a:solidFill>
              </a:rPr>
              <a:t>Una llamada con datos</a:t>
            </a:r>
            <a:endParaRPr sz="3600"/>
          </a:p>
        </p:txBody>
      </p:sp>
      <p:sp>
        <p:nvSpPr>
          <p:cNvPr id="107" name="Google Shape;107;p4"/>
          <p:cNvSpPr txBox="1"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App para iPhone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Swift. Sin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cuenta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para el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usuario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; solo el personal de Cruz Roja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inicia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sesión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57200" y="1554480"/>
            <a:ext cx="1499616" cy="2148840"/>
          </a:xfrm>
          <a:prstGeom prst="roundRect">
            <a:avLst>
              <a:gd name="adj" fmla="val 6098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621792" y="1719072"/>
            <a:ext cx="512064" cy="512064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0" name="Google Shape;110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446" y="1831726"/>
            <a:ext cx="286756" cy="28675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 txBox="1"/>
          <p:nvPr/>
        </p:nvSpPr>
        <p:spPr>
          <a:xfrm>
            <a:off x="621792" y="2331720"/>
            <a:ext cx="124358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toque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621792" y="2852928"/>
            <a:ext cx="124358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Llamada por internet a la delegación de la zona.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2139696" y="1554480"/>
            <a:ext cx="1499616" cy="2148840"/>
          </a:xfrm>
          <a:prstGeom prst="roundRect">
            <a:avLst>
              <a:gd name="adj" fmla="val 6098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2304288" y="1719072"/>
            <a:ext cx="512064" cy="512064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5" name="Google Shape;115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16942" y="1831726"/>
            <a:ext cx="286756" cy="28675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 txBox="1"/>
          <p:nvPr/>
        </p:nvSpPr>
        <p:spPr>
          <a:xfrm>
            <a:off x="2304288" y="2331720"/>
            <a:ext cx="124358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Datos al instante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2304288" y="2852928"/>
            <a:ext cx="124358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GPS, nombre y número llegan antes que el audio.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822192" y="1554480"/>
            <a:ext cx="1499616" cy="2148840"/>
          </a:xfrm>
          <a:prstGeom prst="roundRect">
            <a:avLst>
              <a:gd name="adj" fmla="val 6098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3986784" y="1719072"/>
            <a:ext cx="512064" cy="512064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0" name="Google Shape;120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99438" y="1831726"/>
            <a:ext cx="286756" cy="28675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/>
          <p:nvPr/>
        </p:nvSpPr>
        <p:spPr>
          <a:xfrm>
            <a:off x="3986784" y="2331720"/>
            <a:ext cx="124358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Video de un sentido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3986784" y="2852928"/>
            <a:ext cx="124358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Solo el operador ve la cámara, y con permiso.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504688" y="1554480"/>
            <a:ext cx="1499616" cy="2148840"/>
          </a:xfrm>
          <a:prstGeom prst="roundRect">
            <a:avLst>
              <a:gd name="adj" fmla="val 6098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5669280" y="1719072"/>
            <a:ext cx="512064" cy="512064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5" name="Google Shape;125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81934" y="1831726"/>
            <a:ext cx="286756" cy="28675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 txBox="1"/>
          <p:nvPr/>
        </p:nvSpPr>
        <p:spPr>
          <a:xfrm>
            <a:off x="5669280" y="2331720"/>
            <a:ext cx="124358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Ficha con IA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5669280" y="2852928"/>
            <a:ext cx="124358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 llena mientras la persona habla.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187184" y="1554480"/>
            <a:ext cx="1499616" cy="2148840"/>
          </a:xfrm>
          <a:prstGeom prst="roundRect">
            <a:avLst>
              <a:gd name="adj" fmla="val 6098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7351776" y="1719072"/>
            <a:ext cx="512064" cy="512064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0" name="Google Shape;130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64430" y="1831726"/>
            <a:ext cx="286756" cy="28675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/>
          <p:nvPr/>
        </p:nvSpPr>
        <p:spPr>
          <a:xfrm>
            <a:off x="7351776" y="2331720"/>
            <a:ext cx="124358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Respaldo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7351776" y="2852928"/>
            <a:ext cx="124358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Sin internet, marca por línea telefónica.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457200" y="393192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Fuera de emergencias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2103120" y="3931920"/>
            <a:ext cx="109728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5" name="Google Shape;135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40280" y="4023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 txBox="1"/>
          <p:nvPr/>
        </p:nvSpPr>
        <p:spPr>
          <a:xfrm>
            <a:off x="2578608" y="393192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Citas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3383280" y="3931920"/>
            <a:ext cx="11430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8" name="Google Shape;138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520440" y="4023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"/>
          <p:cNvSpPr txBox="1"/>
          <p:nvPr/>
        </p:nvSpPr>
        <p:spPr>
          <a:xfrm>
            <a:off x="3858768" y="393192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Donar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709160" y="3931920"/>
            <a:ext cx="237744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1" name="Google Shape;141;p4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46320" y="4023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 txBox="1"/>
          <p:nvPr/>
        </p:nvSpPr>
        <p:spPr>
          <a:xfrm>
            <a:off x="5184648" y="393192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Productos con causa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7269480" y="3931920"/>
            <a:ext cx="141732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4" name="Google Shape;144;p4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406640" y="4023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4"/>
          <p:cNvSpPr txBox="1"/>
          <p:nvPr/>
        </p:nvSpPr>
        <p:spPr>
          <a:xfrm>
            <a:off x="7744968" y="3931920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Tutoriales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 txBox="1"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>
                <a:solidFill>
                  <a:schemeClr val="dk1"/>
                </a:solidFill>
              </a:rPr>
              <a:t>La llamada siempre entra</a:t>
            </a:r>
            <a:endParaRPr sz="3600"/>
          </a:p>
        </p:txBody>
      </p:sp>
      <p:sp>
        <p:nvSpPr>
          <p:cNvPr id="153" name="Google Shape;153;p5"/>
          <p:cNvSpPr txBox="1"/>
          <p:nvPr/>
        </p:nvSpPr>
        <p:spPr>
          <a:xfrm>
            <a:off x="457200" y="102412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</a:pP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 internet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llega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con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ficha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; sin internet,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llega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línea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telefónica</a:t>
            </a:r>
            <a:r>
              <a:rPr lang="en-US" sz="15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57200" y="1828800"/>
            <a:ext cx="1600200" cy="868680"/>
          </a:xfrm>
          <a:prstGeom prst="roundRect">
            <a:avLst>
              <a:gd name="adj" fmla="val 10526"/>
            </a:avLst>
          </a:prstGeom>
          <a:solidFill>
            <a:schemeClr val="lt2"/>
          </a:solidFill>
          <a:ln w="158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548640" y="1828800"/>
            <a:ext cx="14173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Botón de emergencia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 solo toque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2377440" y="1645920"/>
            <a:ext cx="1600200" cy="1234440"/>
          </a:xfrm>
          <a:prstGeom prst="diamond">
            <a:avLst/>
          </a:prstGeom>
          <a:solidFill>
            <a:schemeClr val="lt1"/>
          </a:solidFill>
          <a:ln w="158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2606040" y="1645920"/>
            <a:ext cx="114300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¿Conecta por internet?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343400" y="1828800"/>
            <a:ext cx="1828800" cy="868680"/>
          </a:xfrm>
          <a:prstGeom prst="roundRect">
            <a:avLst>
              <a:gd name="adj" fmla="val 10526"/>
            </a:avLst>
          </a:prstGeom>
          <a:solidFill>
            <a:schemeClr val="lt2"/>
          </a:solidFill>
          <a:ln w="158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4434840" y="1828800"/>
            <a:ext cx="16459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Llamada por la app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envía GPS, nombre y número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492240" y="1691640"/>
            <a:ext cx="2194560" cy="11430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"/>
          <p:cNvSpPr txBox="1"/>
          <p:nvPr/>
        </p:nvSpPr>
        <p:spPr>
          <a:xfrm>
            <a:off x="6583680" y="1691640"/>
            <a:ext cx="20116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Operador del CECOM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ve ubicación y datos; la IA llena la ficha; puede pedir video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2148840" y="3429000"/>
            <a:ext cx="2057400" cy="1097280"/>
          </a:xfrm>
          <a:prstGeom prst="roundRect">
            <a:avLst>
              <a:gd name="adj" fmla="val 8333"/>
            </a:avLst>
          </a:prstGeom>
          <a:solidFill>
            <a:schemeClr val="lt2"/>
          </a:solidFill>
          <a:ln w="158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2240280" y="3429000"/>
            <a:ext cx="18745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Llamada telefónica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la delegación más cercana; coordenadas en pantalla; ficha a mano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492240" y="3611880"/>
            <a:ext cx="219456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6583680" y="361188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Despacho de la unidad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5"/>
          <p:cNvCxnSpPr/>
          <p:nvPr/>
        </p:nvCxnSpPr>
        <p:spPr>
          <a:xfrm>
            <a:off x="2057400" y="2263140"/>
            <a:ext cx="32004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7" name="Google Shape;167;p5"/>
          <p:cNvCxnSpPr/>
          <p:nvPr/>
        </p:nvCxnSpPr>
        <p:spPr>
          <a:xfrm>
            <a:off x="3977640" y="2263140"/>
            <a:ext cx="36576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8" name="Google Shape;168;p5"/>
          <p:cNvSpPr txBox="1"/>
          <p:nvPr/>
        </p:nvSpPr>
        <p:spPr>
          <a:xfrm>
            <a:off x="3977640" y="1938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5"/>
          <p:cNvCxnSpPr/>
          <p:nvPr/>
        </p:nvCxnSpPr>
        <p:spPr>
          <a:xfrm>
            <a:off x="6172200" y="2263140"/>
            <a:ext cx="32004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0" name="Google Shape;170;p5"/>
          <p:cNvCxnSpPr/>
          <p:nvPr/>
        </p:nvCxnSpPr>
        <p:spPr>
          <a:xfrm>
            <a:off x="3177540" y="2880360"/>
            <a:ext cx="0" cy="54864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1" name="Google Shape;171;p5"/>
          <p:cNvSpPr txBox="1"/>
          <p:nvPr/>
        </p:nvSpPr>
        <p:spPr>
          <a:xfrm>
            <a:off x="3273552" y="29900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5"/>
          <p:cNvCxnSpPr/>
          <p:nvPr/>
        </p:nvCxnSpPr>
        <p:spPr>
          <a:xfrm>
            <a:off x="4206240" y="3977640"/>
            <a:ext cx="2286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" name="Google Shape;173;p5"/>
          <p:cNvCxnSpPr/>
          <p:nvPr/>
        </p:nvCxnSpPr>
        <p:spPr>
          <a:xfrm>
            <a:off x="7589520" y="2834640"/>
            <a:ext cx="0" cy="77724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4" name="Google Shape;174;p5"/>
          <p:cNvSpPr txBox="1"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>
                <a:solidFill>
                  <a:schemeClr val="dk1"/>
                </a:solidFill>
              </a:rPr>
              <a:t>Seguridad desde el diseño</a:t>
            </a:r>
            <a:endParaRPr sz="3600"/>
          </a:p>
        </p:txBody>
      </p:sp>
      <p:sp>
        <p:nvSpPr>
          <p:cNvPr id="181" name="Google Shape;181;p6"/>
          <p:cNvSpPr txBox="1"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Cuidamos la llamada y los datos de quien pide ayuda.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246743" y="1435608"/>
            <a:ext cx="2743200" cy="1481328"/>
          </a:xfrm>
          <a:prstGeom prst="roundRect">
            <a:avLst>
              <a:gd name="adj" fmla="val 6173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429623" y="1618488"/>
            <a:ext cx="475488" cy="475488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4" name="Google Shape;184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4230" y="1723095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6"/>
          <p:cNvSpPr txBox="1"/>
          <p:nvPr/>
        </p:nvSpPr>
        <p:spPr>
          <a:xfrm>
            <a:off x="1023983" y="1591056"/>
            <a:ext cx="18745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IA en el dispositivo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429623" y="2212848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El audio no sale a </a:t>
            </a:r>
            <a:r>
              <a:rPr lang="en-US" sz="14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servicios</a:t>
            </a:r>
            <a:r>
              <a:rPr lang="en-US" sz="1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de IA </a:t>
            </a:r>
            <a:r>
              <a:rPr lang="en-US" sz="14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externos</a:t>
            </a:r>
            <a:r>
              <a:rPr lang="en-US" sz="1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3218543" y="1435608"/>
            <a:ext cx="2743200" cy="1481328"/>
          </a:xfrm>
          <a:prstGeom prst="roundRect">
            <a:avLst>
              <a:gd name="adj" fmla="val 6173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3401423" y="1618488"/>
            <a:ext cx="475488" cy="475488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9" name="Google Shape;189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06030" y="1723095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 txBox="1"/>
          <p:nvPr/>
        </p:nvSpPr>
        <p:spPr>
          <a:xfrm>
            <a:off x="3995783" y="1591056"/>
            <a:ext cx="18745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Video con permiso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3401423" y="2212848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Solo el operador lo ve y el usuario lo detiene.</a:t>
            </a: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6190343" y="1435608"/>
            <a:ext cx="2743200" cy="1481328"/>
          </a:xfrm>
          <a:prstGeom prst="roundRect">
            <a:avLst>
              <a:gd name="adj" fmla="val 6173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6373223" y="1618488"/>
            <a:ext cx="475488" cy="475488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4" name="Google Shape;194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7830" y="1723095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"/>
          <p:cNvSpPr txBox="1"/>
          <p:nvPr/>
        </p:nvSpPr>
        <p:spPr>
          <a:xfrm>
            <a:off x="6967583" y="1591056"/>
            <a:ext cx="18745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 cifrado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6373223" y="2212848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Llamadas, video y datos, en tránsito y guardados.</a:t>
            </a: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246743" y="3054096"/>
            <a:ext cx="2743200" cy="1481328"/>
          </a:xfrm>
          <a:prstGeom prst="roundRect">
            <a:avLst>
              <a:gd name="adj" fmla="val 6173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429623" y="3236976"/>
            <a:ext cx="475488" cy="475488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9" name="Google Shape;199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4230" y="3341583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6"/>
          <p:cNvSpPr txBox="1"/>
          <p:nvPr/>
        </p:nvSpPr>
        <p:spPr>
          <a:xfrm>
            <a:off x="1023983" y="3209544"/>
            <a:ext cx="18745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Solo personal autorizado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429623" y="3831336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Segundo factor y roles por delegación.</a:t>
            </a: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3218543" y="3054096"/>
            <a:ext cx="2743200" cy="1481328"/>
          </a:xfrm>
          <a:prstGeom prst="roundRect">
            <a:avLst>
              <a:gd name="adj" fmla="val 6173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3401423" y="3236976"/>
            <a:ext cx="475488" cy="475488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4" name="Google Shape;204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06030" y="3341583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6"/>
          <p:cNvSpPr txBox="1"/>
          <p:nvPr/>
        </p:nvSpPr>
        <p:spPr>
          <a:xfrm>
            <a:off x="3995783" y="3209544"/>
            <a:ext cx="18745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Freno a llamadas falsas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3401423" y="3831336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Límite</a:t>
            </a:r>
            <a:r>
              <a:rPr lang="en-US" sz="1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1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dispositivo</a:t>
            </a:r>
            <a:r>
              <a:rPr lang="en-US" sz="1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4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verificación</a:t>
            </a:r>
            <a:r>
              <a:rPr lang="en-US" sz="1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de la app </a:t>
            </a:r>
            <a:r>
              <a:rPr lang="en-US" sz="1400" b="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oficial</a:t>
            </a:r>
            <a:r>
              <a:rPr lang="en-US" sz="14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6190343" y="3054096"/>
            <a:ext cx="2743200" cy="1481328"/>
          </a:xfrm>
          <a:prstGeom prst="roundRect">
            <a:avLst>
              <a:gd name="adj" fmla="val 6173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6373223" y="3236976"/>
            <a:ext cx="475488" cy="475488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9" name="Google Shape;209;p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77830" y="3341583"/>
            <a:ext cx="266273" cy="26627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"/>
          <p:cNvSpPr txBox="1"/>
          <p:nvPr/>
        </p:nvSpPr>
        <p:spPr>
          <a:xfrm>
            <a:off x="6967583" y="3209544"/>
            <a:ext cx="18745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Aviso de privacidad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6373223" y="3831336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Ley de datos personales de 2025 y consentimiento.</a:t>
            </a: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 txBox="1"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7" descr="Configuración inicial: nombre, número verificado por SMS y permis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8" descr="Pantalla principal con el botón de emergencia, Donar y accesos rápid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9" descr="Llamada en curso con la solicitud de video del operad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10" descr="Respaldo sin internet: llamada telefónica y coordenadas en pantall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11" descr="Panel del operador con mapa, ficha editable y transcripción en tiempo 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2" descr="Agenda de citas de nutrición, psicología y capacitación con folio de confirmació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13" descr="Catálogo de productos con caus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14" descr="Tutoriales en video de primeros auxilios y RC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"/>
          <p:cNvSpPr txBox="1">
            <a:spLocks noGrp="1"/>
          </p:cNvSpPr>
          <p:nvPr>
            <p:ph type="title"/>
          </p:nvPr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>
                <a:solidFill>
                  <a:schemeClr val="dk1"/>
                </a:solidFill>
              </a:rPr>
              <a:t>Impacto esperado</a:t>
            </a:r>
            <a:endParaRPr sz="3600"/>
          </a:p>
        </p:txBody>
      </p:sp>
      <p:sp>
        <p:nvSpPr>
          <p:cNvPr id="267" name="Google Shape;267;p15"/>
          <p:cNvSpPr txBox="1"/>
          <p:nvPr/>
        </p:nvSpPr>
        <p:spPr>
          <a:xfrm>
            <a:off x="457200" y="1097280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toque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5"/>
          <p:cNvSpPr txBox="1"/>
          <p:nvPr/>
        </p:nvSpPr>
        <p:spPr>
          <a:xfrm>
            <a:off x="457200" y="19202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para pedir ayuda, sin pantallas intermedias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5"/>
          <p:cNvSpPr txBox="1"/>
          <p:nvPr/>
        </p:nvSpPr>
        <p:spPr>
          <a:xfrm>
            <a:off x="2560320" y="1097280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&lt; 5</a:t>
            </a:r>
            <a:r>
              <a:rPr lang="en-US"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s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5"/>
          <p:cNvSpPr txBox="1"/>
          <p:nvPr/>
        </p:nvSpPr>
        <p:spPr>
          <a:xfrm>
            <a:off x="2560320" y="19202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para que ubicación y datos lleguen al operador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5"/>
          <p:cNvSpPr txBox="1"/>
          <p:nvPr/>
        </p:nvSpPr>
        <p:spPr>
          <a:xfrm>
            <a:off x="4663440" y="1097280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lang="en-US"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campos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5"/>
          <p:cNvSpPr txBox="1"/>
          <p:nvPr/>
        </p:nvSpPr>
        <p:spPr>
          <a:xfrm>
            <a:off x="4663440" y="19202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 la ficha que llena la IA mientras la persona habla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5"/>
          <p:cNvSpPr txBox="1"/>
          <p:nvPr/>
        </p:nvSpPr>
        <p:spPr>
          <a:xfrm>
            <a:off x="6766560" y="1097280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cuentas</a:t>
            </a:r>
            <a:endParaRPr sz="4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5"/>
          <p:cNvSpPr txBox="1"/>
          <p:nvPr/>
        </p:nvSpPr>
        <p:spPr>
          <a:xfrm>
            <a:off x="6766560" y="19202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 el usuario tenga que crear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457200" y="2788920"/>
            <a:ext cx="4114800" cy="1783080"/>
          </a:xfrm>
          <a:prstGeom prst="roundRect">
            <a:avLst>
              <a:gd name="adj" fmla="val 5128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5"/>
          <p:cNvSpPr txBox="1"/>
          <p:nvPr/>
        </p:nvSpPr>
        <p:spPr>
          <a:xfrm>
            <a:off x="685800" y="2898648"/>
            <a:ext cx="370332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En la emergencia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Menos tiempo al teléfono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Despacho más preciso con GPS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Mejor valoración con video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Llamadas recuperables con número verificado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4800600" y="2788920"/>
            <a:ext cx="4114800" cy="1783080"/>
          </a:xfrm>
          <a:prstGeom prst="roundRect">
            <a:avLst>
              <a:gd name="adj" fmla="val 5128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5"/>
          <p:cNvSpPr txBox="1"/>
          <p:nvPr/>
        </p:nvSpPr>
        <p:spPr>
          <a:xfrm>
            <a:off x="5029200" y="2898648"/>
            <a:ext cx="370332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Fuera de la emergencia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Citas desde el celular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Más donativos y productos con causa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Tutoriales para actuar mientras llega la ayuda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5"/>
          <p:cNvSpPr txBox="1">
            <a:spLocks noGrp="1"/>
          </p:cNvSpPr>
          <p:nvPr>
            <p:ph type="sldNum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"/>
          <p:cNvSpPr txBox="1">
            <a:spLocks noGrp="1"/>
          </p:cNvSpPr>
          <p:nvPr>
            <p:ph type="title"/>
          </p:nvPr>
        </p:nvSpPr>
        <p:spPr>
          <a:xfrm>
            <a:off x="548640" y="146304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b="1">
                <a:solidFill>
                  <a:schemeClr val="lt1"/>
                </a:solidFill>
              </a:rPr>
              <a:t>Gracias</a:t>
            </a:r>
            <a:endParaRPr sz="5400"/>
          </a:p>
        </p:txBody>
      </p:sp>
      <p:sp>
        <p:nvSpPr>
          <p:cNvPr id="311" name="Google Shape;311;p17"/>
          <p:cNvSpPr txBox="1">
            <a:spLocks noGrp="1"/>
          </p:cNvSpPr>
          <p:nvPr>
            <p:ph type="body" idx="1"/>
          </p:nvPr>
        </p:nvSpPr>
        <p:spPr>
          <a:xfrm>
            <a:off x="548640" y="260604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</a:pPr>
            <a:r>
              <a:rPr lang="en-US" sz="2000">
                <a:solidFill>
                  <a:schemeClr val="accent3"/>
                </a:solidFill>
              </a:rPr>
              <a:t>Preguntas y retroalimentación</a:t>
            </a:r>
            <a:endParaRPr sz="2000"/>
          </a:p>
        </p:txBody>
      </p:sp>
      <p:sp>
        <p:nvSpPr>
          <p:cNvPr id="312" name="Google Shape;312;p17"/>
          <p:cNvSpPr txBox="1"/>
          <p:nvPr/>
        </p:nvSpPr>
        <p:spPr>
          <a:xfrm>
            <a:off x="548640" y="370332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Equipo El Rebaño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Luis Omar · Ayhan · Desiderio · Luis · Sebastián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p17" descr="Pantalla principal de la app con el botón Emergencia, un solo toqu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95137" y="0"/>
            <a:ext cx="324886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ruz Roja El Rebano">
  <a:themeElements>
    <a:clrScheme name="Cruz Roja El Rebano">
      <a:dk1>
        <a:srgbClr val="1F1F1F"/>
      </a:dk1>
      <a:lt1>
        <a:srgbClr val="FFFFFF"/>
      </a:lt1>
      <a:dk2>
        <a:srgbClr val="5F6368"/>
      </a:dk2>
      <a:lt2>
        <a:srgbClr val="F4F4F4"/>
      </a:lt2>
      <a:accent1>
        <a:srgbClr val="C50B0B"/>
      </a:accent1>
      <a:accent2>
        <a:srgbClr val="8E0808"/>
      </a:accent2>
      <a:accent3>
        <a:srgbClr val="FBE7E7"/>
      </a:accent3>
      <a:accent4>
        <a:srgbClr val="3C4043"/>
      </a:accent4>
      <a:accent5>
        <a:srgbClr val="E3E3E3"/>
      </a:accent5>
      <a:accent6>
        <a:srgbClr val="9AA0A6"/>
      </a:accent6>
      <a:hlink>
        <a:srgbClr val="C50B0B"/>
      </a:hlink>
      <a:folHlink>
        <a:srgbClr val="8E080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ruz Roja El Rebano">
  <a:themeElements>
    <a:clrScheme name="Cruz Roja El Rebano">
      <a:dk1>
        <a:srgbClr val="1F1F1F"/>
      </a:dk1>
      <a:lt1>
        <a:srgbClr val="FFFFFF"/>
      </a:lt1>
      <a:dk2>
        <a:srgbClr val="5F6368"/>
      </a:dk2>
      <a:lt2>
        <a:srgbClr val="F4F4F4"/>
      </a:lt2>
      <a:accent1>
        <a:srgbClr val="C50B0B"/>
      </a:accent1>
      <a:accent2>
        <a:srgbClr val="8E0808"/>
      </a:accent2>
      <a:accent3>
        <a:srgbClr val="FBE7E7"/>
      </a:accent3>
      <a:accent4>
        <a:srgbClr val="3C4043"/>
      </a:accent4>
      <a:accent5>
        <a:srgbClr val="E3E3E3"/>
      </a:accent5>
      <a:accent6>
        <a:srgbClr val="9AA0A6"/>
      </a:accent6>
      <a:hlink>
        <a:srgbClr val="C50B0B"/>
      </a:hlink>
      <a:folHlink>
        <a:srgbClr val="8E080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1787</Words>
  <Application>Microsoft Office PowerPoint</Application>
  <PresentationFormat>On-screen Show (16:9)</PresentationFormat>
  <Paragraphs>141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Cruz Roja El Rebano</vt:lpstr>
      <vt:lpstr>Una llamada de emergencia que llega con datos</vt:lpstr>
      <vt:lpstr>8 datos, todos por voz</vt:lpstr>
      <vt:lpstr>Cinco puntos débiles</vt:lpstr>
      <vt:lpstr>Una llamada con datos</vt:lpstr>
      <vt:lpstr>La llamada siempre entra</vt:lpstr>
      <vt:lpstr>Seguridad desde el diseño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Impacto esperado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Equipo El Rebaño</dc:creator>
  <cp:lastModifiedBy>Luis Omar Monroy Gutierrez</cp:lastModifiedBy>
  <cp:revision>1</cp:revision>
  <dcterms:created xsi:type="dcterms:W3CDTF">2026-10-12T13:09:46Z</dcterms:created>
  <dcterms:modified xsi:type="dcterms:W3CDTF">2026-10-12T17:18:11Z</dcterms:modified>
</cp:coreProperties>
</file>